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Interphases" charset="1" panose="02000503020000020004"/>
      <p:regular r:id="rId17"/>
    </p:embeddedFont>
    <p:embeddedFont>
      <p:font typeface="Cooper BT Light" charset="1" panose="0208050304030B020404"/>
      <p:regular r:id="rId18"/>
    </p:embeddedFont>
    <p:embeddedFont>
      <p:font typeface="TT Interphases Bold" charset="1" panose="02000803060000020004"/>
      <p:regular r:id="rId19"/>
    </p:embeddedFont>
    <p:embeddedFont>
      <p:font typeface="Cooper BT Medium" charset="1" panose="0208060305030B02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5398824"/>
            <a:chOff x="0" y="0"/>
            <a:chExt cx="11099800" cy="71984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802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Inclusive Communication Platform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5999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F0F4F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VYAKTA: India's First AI-Powered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[Professional Title or Role]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[Presenter First Last Name]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5113020"/>
            <a:chOff x="0" y="0"/>
            <a:chExt cx="11099800" cy="68173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371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VYAKTA serves as a </a:t>
              </a: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real-time AI translator</a:t>
              </a: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bridging sign and spoken languages, creating an inclusive communication platform that fosters interaction and understanding among all users.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4F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Bridging Silence and Sound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Transforming Communication Beyond an App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6176504" y="61454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5133975"/>
            <a:ext cx="54483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519"/>
              </a:lnSpc>
            </a:pPr>
            <a:r>
              <a:rPr lang="en-US" sz="9600" spc="-480">
                <a:solidFill>
                  <a:srgbClr val="385B8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500 million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5025" y="5133975"/>
            <a:ext cx="54483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19"/>
              </a:lnSpc>
            </a:pPr>
            <a:r>
              <a:rPr lang="en-US" sz="9600" spc="-480">
                <a:solidFill>
                  <a:srgbClr val="385B8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1.5 billion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4077950" cy="3046149"/>
            <a:chOff x="0" y="0"/>
            <a:chExt cx="18770600" cy="406153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1925"/>
              <a:ext cx="18770600" cy="29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F0F4F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The Problem: Communication Challenges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43372"/>
              <a:ext cx="187706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Addressing barriers for hearing-impaired communities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6886575" cy="1031014"/>
            <a:chOff x="0" y="0"/>
            <a:chExt cx="9182100" cy="13746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People with hearing loss worldwide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54346"/>
              <a:ext cx="9182100" cy="5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-47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Represents a significant global challenge.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7829550"/>
            <a:ext cx="6886575" cy="1031014"/>
            <a:chOff x="0" y="0"/>
            <a:chExt cx="9182100" cy="137468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Sign language users globally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54346"/>
              <a:ext cx="9182100" cy="5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-47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Limited access to communication tools available.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true" flipV="false" rot="9828254">
            <a:off x="-696564" y="7785594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6"/>
                </a:lnTo>
                <a:lnTo>
                  <a:pt x="1876083" y="1497456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5B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746963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934200"/>
            <a:ext cx="4010025" cy="2712720"/>
            <a:chOff x="0" y="0"/>
            <a:chExt cx="1056138" cy="71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714461"/>
            </a:xfrm>
            <a:custGeom>
              <a:avLst/>
              <a:gdLst/>
              <a:ahLst/>
              <a:cxnLst/>
              <a:rect r="r" b="b" t="t" l="l"/>
              <a:pathLst>
                <a:path h="714461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7236"/>
                  </a:lnTo>
                  <a:cubicBezTo>
                    <a:pt x="1056138" y="679886"/>
                    <a:pt x="1021563" y="714461"/>
                    <a:pt x="978913" y="714461"/>
                  </a:cubicBezTo>
                  <a:lnTo>
                    <a:pt x="77226" y="714461"/>
                  </a:lnTo>
                  <a:cubicBezTo>
                    <a:pt x="34575" y="714461"/>
                    <a:pt x="0" y="679886"/>
                    <a:pt x="0" y="637236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F1C3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56138" cy="743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11225" y="6934200"/>
            <a:ext cx="4010025" cy="2686050"/>
            <a:chOff x="0" y="0"/>
            <a:chExt cx="1056138" cy="7074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707437"/>
            </a:xfrm>
            <a:custGeom>
              <a:avLst/>
              <a:gdLst/>
              <a:ahLst/>
              <a:cxnLst/>
              <a:rect r="r" b="b" t="t" l="l"/>
              <a:pathLst>
                <a:path h="707437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F1C3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56138" cy="736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66750"/>
            <a:ext cx="4010025" cy="5956430"/>
            <a:chOff x="0" y="0"/>
            <a:chExt cx="812800" cy="120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207321"/>
            </a:xfrm>
            <a:custGeom>
              <a:avLst/>
              <a:gdLst/>
              <a:ahLst/>
              <a:cxnLst/>
              <a:rect r="r" b="b" t="t" l="l"/>
              <a:pathLst>
                <a:path h="1207321" w="812800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28" r="0" b="-42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11225" y="666750"/>
            <a:ext cx="4010025" cy="5956430"/>
            <a:chOff x="0" y="0"/>
            <a:chExt cx="812800" cy="120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207321"/>
            </a:xfrm>
            <a:custGeom>
              <a:avLst/>
              <a:gdLst/>
              <a:ahLst/>
              <a:cxnLst/>
              <a:rect r="r" b="b" t="t" l="l"/>
              <a:pathLst>
                <a:path h="1207321" w="812800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28" r="0" b="-42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28675"/>
            <a:ext cx="6886575" cy="435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4F8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The Solution: VYAKTA's AI-Driven Innovations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84671" y="7454265"/>
            <a:ext cx="3257550" cy="1466393"/>
            <a:chOff x="0" y="0"/>
            <a:chExt cx="4343400" cy="195519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43434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5"/>
                </a:lnSpc>
                <a:spcBef>
                  <a:spcPct val="0"/>
                </a:spcBef>
              </a:pPr>
              <a:r>
                <a:rPr lang="en-US" sz="2737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AI Vision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92200"/>
              <a:ext cx="4343400" cy="86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sz="1893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Enabling advanced perception through intelligent algorithms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87462" y="7454265"/>
            <a:ext cx="3257550" cy="1466393"/>
            <a:chOff x="0" y="0"/>
            <a:chExt cx="4343400" cy="195519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0"/>
              <a:ext cx="43434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5"/>
                </a:lnSpc>
                <a:spcBef>
                  <a:spcPct val="0"/>
                </a:spcBef>
              </a:pPr>
              <a:r>
                <a:rPr lang="en-US" sz="2737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Speech Recognition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092200"/>
              <a:ext cx="4343400" cy="86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sz="1893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Transforming spoken words into comprehensible text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85B8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85B8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19150"/>
            <a:ext cx="14077950" cy="21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3"/>
              </a:lnSpc>
              <a:spcBef>
                <a:spcPct val="0"/>
              </a:spcBef>
            </a:pPr>
            <a:r>
              <a:rPr lang="en-US" sz="8393" spc="-167" strike="noStrike" u="none">
                <a:solidFill>
                  <a:srgbClr val="F0F4F8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VYAKTA: Unique Solution Through AI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2817421"/>
            <a:chOff x="0" y="0"/>
            <a:chExt cx="7670800" cy="37565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VYAKTA utilizes </a:t>
              </a: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advanced AI Vision</a:t>
              </a: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</a:t>
              </a: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Speech Recognition</a:t>
              </a: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to seamlessly translate sign language into spoken language and vice versa, fostering real-time communication for everyone.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7670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Core Technology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3207946"/>
            <a:chOff x="0" y="0"/>
            <a:chExt cx="7607012" cy="42772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platform features </a:t>
              </a: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gesture detection</a:t>
              </a: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technology, enabling accurate interpretation of sign language gestures, ensuring effective communication without the need for interpreters, thus promoting inclusivity.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760701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Gesture Detection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5133975"/>
            <a:ext cx="54483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525"/>
              </a:lnSpc>
            </a:pPr>
            <a:r>
              <a:rPr lang="en-US" sz="7104" spc="-355">
                <a:solidFill>
                  <a:srgbClr val="385B8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₹66,000-99,000 Cr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5025" y="5133975"/>
            <a:ext cx="54483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5"/>
              </a:lnSpc>
            </a:pPr>
            <a:r>
              <a:rPr lang="en-US" sz="7104" spc="-355">
                <a:solidFill>
                  <a:srgbClr val="385B8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₹3.3-4.1 Lakh Cr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4077950" cy="1627957"/>
            <a:chOff x="0" y="0"/>
            <a:chExt cx="18770600" cy="217061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4300"/>
              <a:ext cx="18770600" cy="1152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0"/>
                </a:lnSpc>
                <a:spcBef>
                  <a:spcPct val="0"/>
                </a:spcBef>
              </a:pPr>
              <a:r>
                <a:rPr lang="en-US" sz="6290" spc="-125" strike="noStrike" u="none">
                  <a:solidFill>
                    <a:srgbClr val="F0F4F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Market Opportunity &amp; Target Audience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52450"/>
              <a:ext cx="187706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our business potential and customers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6886575" cy="1031014"/>
            <a:chOff x="0" y="0"/>
            <a:chExt cx="9182100" cy="13746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Total Addressable Market (TAM)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54346"/>
              <a:ext cx="9182100" cy="5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-47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total market for inclusive communication tools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7829550"/>
            <a:ext cx="6886575" cy="1031014"/>
            <a:chOff x="0" y="0"/>
            <a:chExt cx="9182100" cy="137468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Serviceable Available Market (SAM)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54346"/>
              <a:ext cx="9182100" cy="520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  <a:spcBef>
                  <a:spcPct val="0"/>
                </a:spcBef>
              </a:pPr>
              <a:r>
                <a:rPr lang="en-US" sz="2399" spc="-47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segment within TAM targeting specific users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true" flipV="false" rot="9828254">
            <a:off x="-696564" y="7785594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6"/>
                </a:lnTo>
                <a:lnTo>
                  <a:pt x="1876083" y="1497456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104761"/>
            <a:ext cx="9763125" cy="3846361"/>
            <a:chOff x="0" y="0"/>
            <a:chExt cx="13017500" cy="512848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048221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VYAKTA will generate revenue through a </a:t>
              </a: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freemium model</a:t>
              </a: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with subscription tiers for individuals and enterprises, alongside API integrations and enterprise licensing, ensuring accessibility and scalability.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 strike="noStrike" u="none">
                  <a:solidFill>
                    <a:srgbClr val="F0F4F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Business Model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85B8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385B8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19150"/>
            <a:ext cx="14077950" cy="21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3"/>
              </a:lnSpc>
              <a:spcBef>
                <a:spcPct val="0"/>
              </a:spcBef>
            </a:pPr>
            <a:r>
              <a:rPr lang="en-US" sz="8393" spc="-167" strike="noStrike" u="none">
                <a:solidFill>
                  <a:srgbClr val="F0F4F8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Technology Implementation Overview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2817421"/>
            <a:chOff x="0" y="0"/>
            <a:chExt cx="7670800" cy="37565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VYAKTA leverages advanced AI Vision technology to accurately interpret and translate sign language into spoken or written text, ensuring seamless communication in real-time.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7670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AI Vision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2817421"/>
            <a:chOff x="0" y="0"/>
            <a:chExt cx="7607012" cy="37565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platform’s architecture is designed for cloud scalability, enabling it to handle large volumes of simultaneous users and ensuring consistent performance, regardless of demand.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760701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Cloud Scalability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74696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934200"/>
            <a:ext cx="4010025" cy="2712720"/>
            <a:chOff x="0" y="0"/>
            <a:chExt cx="1056138" cy="71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714461"/>
            </a:xfrm>
            <a:custGeom>
              <a:avLst/>
              <a:gdLst/>
              <a:ahLst/>
              <a:cxnLst/>
              <a:rect r="r" b="b" t="t" l="l"/>
              <a:pathLst>
                <a:path h="714461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7236"/>
                  </a:lnTo>
                  <a:cubicBezTo>
                    <a:pt x="1056138" y="679886"/>
                    <a:pt x="1021563" y="714461"/>
                    <a:pt x="978913" y="714461"/>
                  </a:cubicBezTo>
                  <a:lnTo>
                    <a:pt x="77226" y="714461"/>
                  </a:lnTo>
                  <a:cubicBezTo>
                    <a:pt x="34575" y="714461"/>
                    <a:pt x="0" y="679886"/>
                    <a:pt x="0" y="637236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F1C3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56138" cy="743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11225" y="6934200"/>
            <a:ext cx="4010025" cy="2686050"/>
            <a:chOff x="0" y="0"/>
            <a:chExt cx="1056138" cy="7074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707437"/>
            </a:xfrm>
            <a:custGeom>
              <a:avLst/>
              <a:gdLst/>
              <a:ahLst/>
              <a:cxnLst/>
              <a:rect r="r" b="b" t="t" l="l"/>
              <a:pathLst>
                <a:path h="707437" w="1056138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0F1C3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56138" cy="736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66750"/>
            <a:ext cx="4010025" cy="5956430"/>
            <a:chOff x="0" y="0"/>
            <a:chExt cx="812800" cy="120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207321"/>
            </a:xfrm>
            <a:custGeom>
              <a:avLst/>
              <a:gdLst/>
              <a:ahLst/>
              <a:cxnLst/>
              <a:rect r="r" b="b" t="t" l="l"/>
              <a:pathLst>
                <a:path h="1207321" w="812800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28" r="0" b="-42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11225" y="666750"/>
            <a:ext cx="4010025" cy="5956430"/>
            <a:chOff x="0" y="0"/>
            <a:chExt cx="812800" cy="120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207321"/>
            </a:xfrm>
            <a:custGeom>
              <a:avLst/>
              <a:gdLst/>
              <a:ahLst/>
              <a:cxnLst/>
              <a:rect r="r" b="b" t="t" l="l"/>
              <a:pathLst>
                <a:path h="1207321" w="812800">
                  <a:moveTo>
                    <a:pt x="77226" y="0"/>
                  </a:moveTo>
                  <a:lnTo>
                    <a:pt x="735574" y="0"/>
                  </a:lnTo>
                  <a:cubicBezTo>
                    <a:pt x="778225" y="0"/>
                    <a:pt x="812800" y="34575"/>
                    <a:pt x="812800" y="77226"/>
                  </a:cubicBezTo>
                  <a:lnTo>
                    <a:pt x="812800" y="1130095"/>
                  </a:lnTo>
                  <a:cubicBezTo>
                    <a:pt x="812800" y="1172746"/>
                    <a:pt x="778225" y="1207321"/>
                    <a:pt x="735574" y="1207321"/>
                  </a:cubicBezTo>
                  <a:lnTo>
                    <a:pt x="77226" y="1207321"/>
                  </a:lnTo>
                  <a:cubicBezTo>
                    <a:pt x="34575" y="1207321"/>
                    <a:pt x="0" y="1172746"/>
                    <a:pt x="0" y="1130095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28" r="0" b="-42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28675"/>
            <a:ext cx="6886575" cy="328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4F8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Empowerment and Future Integration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84671" y="7454265"/>
            <a:ext cx="3257550" cy="1424702"/>
            <a:chOff x="0" y="0"/>
            <a:chExt cx="4343400" cy="189960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4343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Empowerment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65225"/>
              <a:ext cx="4343400" cy="734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23"/>
                </a:lnSpc>
                <a:spcBef>
                  <a:spcPct val="0"/>
                </a:spcBef>
              </a:pPr>
              <a:r>
                <a:rPr lang="en-US" sz="1659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Fostering inclusion for hearing and speech-impaired communities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87462" y="7454265"/>
            <a:ext cx="3257550" cy="1424702"/>
            <a:chOff x="0" y="0"/>
            <a:chExt cx="4343400" cy="1899602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4343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0F4F8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Future Integration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65225"/>
              <a:ext cx="4343400" cy="734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23"/>
                </a:lnSpc>
                <a:spcBef>
                  <a:spcPct val="0"/>
                </a:spcBef>
              </a:pPr>
              <a:r>
                <a:rPr lang="en-US" sz="1659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Expanding access to various sectors and platforms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324853"/>
            <a:ext cx="9763125" cy="3406178"/>
            <a:chOff x="0" y="0"/>
            <a:chExt cx="13017500" cy="454157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028112"/>
              <a:ext cx="11099800" cy="1513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3"/>
                </a:lnSpc>
              </a:pPr>
              <a:r>
                <a:rPr lang="en-US" sz="2310" spc="-46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VYAKTA aims to integrate seamlessly with </a:t>
              </a:r>
              <a:r>
                <a:rPr lang="en-US" b="true" sz="2310" spc="-46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educational</a:t>
              </a:r>
              <a:r>
                <a:rPr lang="en-US" sz="2310" spc="-46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healthcare, and HR platforms, while rolling out APIs and SDKs to create a global accessibility ecosystem that empowers communication for all.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180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74"/>
                </a:lnSpc>
                <a:spcBef>
                  <a:spcPct val="0"/>
                </a:spcBef>
              </a:pPr>
              <a:r>
                <a:rPr lang="en-US" sz="9874" spc="-197" strike="noStrike" u="none">
                  <a:solidFill>
                    <a:srgbClr val="F0F4F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Future Expansions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5B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28675"/>
            <a:ext cx="832485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4F8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Get in Touch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143500"/>
            <a:ext cx="8324850" cy="895350"/>
            <a:chOff x="0" y="0"/>
            <a:chExt cx="11099800" cy="119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Email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hello@reallygreatsite.com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934200"/>
            <a:ext cx="8324850" cy="895350"/>
            <a:chOff x="0" y="0"/>
            <a:chExt cx="11099800" cy="11938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Media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@reallygreatsite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8724900"/>
            <a:ext cx="8324850" cy="895350"/>
            <a:chOff x="0" y="0"/>
            <a:chExt cx="11099800" cy="11938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4F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Phone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123-456-7890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VYAKTA: India's First AI-Powered</dc:description>
  <dc:identifier>DAG5c7vtV0o</dc:identifier>
  <dcterms:modified xsi:type="dcterms:W3CDTF">2011-08-01T06:04:30Z</dcterms:modified>
  <cp:revision>1</cp:revision>
  <dc:title>Presentation - VYAKTA: India's First AI-Powered</dc:title>
</cp:coreProperties>
</file>